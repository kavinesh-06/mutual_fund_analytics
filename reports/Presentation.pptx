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Bold" panose="020B0604020202020204" charset="0"/>
      <p:regular r:id="rId13"/>
    </p:embeddedFont>
    <p:embeddedFont>
      <p:font typeface="Instrument Sans Medium" panose="020B0604020202020204" charset="0"/>
      <p:regular r:id="rId14"/>
    </p:embeddedFont>
    <p:embeddedFont>
      <p:font typeface="Instrument Sans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nesh haribaskar" userId="96d0dae25c096074" providerId="LiveId" clId="{7165BEFC-6165-47FA-8757-D851393C1F71}"/>
    <pc:docChg chg="custSel modSld">
      <pc:chgData name="kavinesh haribaskar" userId="96d0dae25c096074" providerId="LiveId" clId="{7165BEFC-6165-47FA-8757-D851393C1F71}" dt="2026-07-09T18:43:28.304" v="27" actId="1076"/>
      <pc:docMkLst>
        <pc:docMk/>
      </pc:docMkLst>
      <pc:sldChg chg="addSp modSp mod">
        <pc:chgData name="kavinesh haribaskar" userId="96d0dae25c096074" providerId="LiveId" clId="{7165BEFC-6165-47FA-8757-D851393C1F71}" dt="2026-07-09T18:38:31.978" v="10" actId="1076"/>
        <pc:sldMkLst>
          <pc:docMk/>
          <pc:sldMk cId="0" sldId="256"/>
        </pc:sldMkLst>
        <pc:picChg chg="add mod">
          <ac:chgData name="kavinesh haribaskar" userId="96d0dae25c096074" providerId="LiveId" clId="{7165BEFC-6165-47FA-8757-D851393C1F71}" dt="2026-07-09T18:38:31.978" v="10" actId="1076"/>
          <ac:picMkLst>
            <pc:docMk/>
            <pc:sldMk cId="0" sldId="256"/>
            <ac:picMk id="12" creationId="{B4BDE08A-3B5F-8511-352D-E3C8BE0B0302}"/>
          </ac:picMkLst>
        </pc:picChg>
      </pc:sldChg>
      <pc:sldChg chg="addSp delSp modSp mod modClrScheme chgLayout">
        <pc:chgData name="kavinesh haribaskar" userId="96d0dae25c096074" providerId="LiveId" clId="{7165BEFC-6165-47FA-8757-D851393C1F71}" dt="2026-07-09T18:38:08.023" v="7" actId="1076"/>
        <pc:sldMkLst>
          <pc:docMk/>
          <pc:sldMk cId="0" sldId="257"/>
        </pc:sldMkLst>
        <pc:spChg chg="add del mod">
          <ac:chgData name="kavinesh haribaskar" userId="96d0dae25c096074" providerId="LiveId" clId="{7165BEFC-6165-47FA-8757-D851393C1F71}" dt="2026-07-09T18:35:29.950" v="4" actId="478"/>
          <ac:spMkLst>
            <pc:docMk/>
            <pc:sldMk cId="0" sldId="257"/>
            <ac:spMk id="18" creationId="{90AE9FE4-4106-15A1-4141-B9277C58F0C6}"/>
          </ac:spMkLst>
        </pc:spChg>
        <pc:picChg chg="add mod">
          <ac:chgData name="kavinesh haribaskar" userId="96d0dae25c096074" providerId="LiveId" clId="{7165BEFC-6165-47FA-8757-D851393C1F71}" dt="2026-07-09T18:38:08.023" v="7" actId="1076"/>
          <ac:picMkLst>
            <pc:docMk/>
            <pc:sldMk cId="0" sldId="257"/>
            <ac:picMk id="20" creationId="{203BBCCC-20C5-69EC-4FAC-71734283C792}"/>
          </ac:picMkLst>
        </pc:picChg>
      </pc:sldChg>
      <pc:sldChg chg="addSp modSp mod">
        <pc:chgData name="kavinesh haribaskar" userId="96d0dae25c096074" providerId="LiveId" clId="{7165BEFC-6165-47FA-8757-D851393C1F71}" dt="2026-07-09T18:38:50.573" v="12" actId="1076"/>
        <pc:sldMkLst>
          <pc:docMk/>
          <pc:sldMk cId="0" sldId="258"/>
        </pc:sldMkLst>
        <pc:picChg chg="add mod">
          <ac:chgData name="kavinesh haribaskar" userId="96d0dae25c096074" providerId="LiveId" clId="{7165BEFC-6165-47FA-8757-D851393C1F71}" dt="2026-07-09T18:38:50.573" v="12" actId="1076"/>
          <ac:picMkLst>
            <pc:docMk/>
            <pc:sldMk cId="0" sldId="258"/>
            <ac:picMk id="25" creationId="{E7D8A99D-3662-76D9-E76D-068B8C6DD85D}"/>
          </ac:picMkLst>
        </pc:picChg>
      </pc:sldChg>
      <pc:sldChg chg="addSp modSp mod">
        <pc:chgData name="kavinesh haribaskar" userId="96d0dae25c096074" providerId="LiveId" clId="{7165BEFC-6165-47FA-8757-D851393C1F71}" dt="2026-07-09T18:40:59.705" v="14" actId="1076"/>
        <pc:sldMkLst>
          <pc:docMk/>
          <pc:sldMk cId="0" sldId="259"/>
        </pc:sldMkLst>
        <pc:picChg chg="add mod">
          <ac:chgData name="kavinesh haribaskar" userId="96d0dae25c096074" providerId="LiveId" clId="{7165BEFC-6165-47FA-8757-D851393C1F71}" dt="2026-07-09T18:40:59.705" v="14" actId="1076"/>
          <ac:picMkLst>
            <pc:docMk/>
            <pc:sldMk cId="0" sldId="259"/>
            <ac:picMk id="43" creationId="{9F113A28-C6C7-B934-0A93-F01C90D3D7C8}"/>
          </ac:picMkLst>
        </pc:picChg>
      </pc:sldChg>
      <pc:sldChg chg="addSp modSp mod">
        <pc:chgData name="kavinesh haribaskar" userId="96d0dae25c096074" providerId="LiveId" clId="{7165BEFC-6165-47FA-8757-D851393C1F71}" dt="2026-07-09T18:41:58.144" v="17" actId="1076"/>
        <pc:sldMkLst>
          <pc:docMk/>
          <pc:sldMk cId="0" sldId="260"/>
        </pc:sldMkLst>
        <pc:picChg chg="add mod">
          <ac:chgData name="kavinesh haribaskar" userId="96d0dae25c096074" providerId="LiveId" clId="{7165BEFC-6165-47FA-8757-D851393C1F71}" dt="2026-07-09T18:41:19.852" v="15" actId="931"/>
          <ac:picMkLst>
            <pc:docMk/>
            <pc:sldMk cId="0" sldId="260"/>
            <ac:picMk id="23" creationId="{1B44D75D-2B1F-FA1B-A5C5-E4EB991101AD}"/>
          </ac:picMkLst>
        </pc:picChg>
        <pc:picChg chg="add mod">
          <ac:chgData name="kavinesh haribaskar" userId="96d0dae25c096074" providerId="LiveId" clId="{7165BEFC-6165-47FA-8757-D851393C1F71}" dt="2026-07-09T18:41:58.144" v="17" actId="1076"/>
          <ac:picMkLst>
            <pc:docMk/>
            <pc:sldMk cId="0" sldId="260"/>
            <ac:picMk id="25" creationId="{D29B89F9-4B91-0809-83CA-47C50737C751}"/>
          </ac:picMkLst>
        </pc:picChg>
      </pc:sldChg>
      <pc:sldChg chg="addSp modSp mod">
        <pc:chgData name="kavinesh haribaskar" userId="96d0dae25c096074" providerId="LiveId" clId="{7165BEFC-6165-47FA-8757-D851393C1F71}" dt="2026-07-09T18:42:13.974" v="19" actId="1076"/>
        <pc:sldMkLst>
          <pc:docMk/>
          <pc:sldMk cId="0" sldId="261"/>
        </pc:sldMkLst>
        <pc:picChg chg="add mod">
          <ac:chgData name="kavinesh haribaskar" userId="96d0dae25c096074" providerId="LiveId" clId="{7165BEFC-6165-47FA-8757-D851393C1F71}" dt="2026-07-09T18:42:13.974" v="19" actId="1076"/>
          <ac:picMkLst>
            <pc:docMk/>
            <pc:sldMk cId="0" sldId="261"/>
            <ac:picMk id="19" creationId="{DCE30CBA-44FB-0300-D9C5-ED6D8DBFC39E}"/>
          </ac:picMkLst>
        </pc:picChg>
      </pc:sldChg>
      <pc:sldChg chg="addSp modSp mod">
        <pc:chgData name="kavinesh haribaskar" userId="96d0dae25c096074" providerId="LiveId" clId="{7165BEFC-6165-47FA-8757-D851393C1F71}" dt="2026-07-09T18:42:35.033" v="21" actId="1076"/>
        <pc:sldMkLst>
          <pc:docMk/>
          <pc:sldMk cId="0" sldId="262"/>
        </pc:sldMkLst>
        <pc:picChg chg="add mod">
          <ac:chgData name="kavinesh haribaskar" userId="96d0dae25c096074" providerId="LiveId" clId="{7165BEFC-6165-47FA-8757-D851393C1F71}" dt="2026-07-09T18:42:35.033" v="21" actId="1076"/>
          <ac:picMkLst>
            <pc:docMk/>
            <pc:sldMk cId="0" sldId="262"/>
            <ac:picMk id="24" creationId="{EB2F9988-34C3-D5ED-61DD-48094FA6374A}"/>
          </ac:picMkLst>
        </pc:picChg>
      </pc:sldChg>
      <pc:sldChg chg="addSp modSp mod">
        <pc:chgData name="kavinesh haribaskar" userId="96d0dae25c096074" providerId="LiveId" clId="{7165BEFC-6165-47FA-8757-D851393C1F71}" dt="2026-07-09T18:42:51.818" v="23" actId="1076"/>
        <pc:sldMkLst>
          <pc:docMk/>
          <pc:sldMk cId="0" sldId="263"/>
        </pc:sldMkLst>
        <pc:picChg chg="add mod">
          <ac:chgData name="kavinesh haribaskar" userId="96d0dae25c096074" providerId="LiveId" clId="{7165BEFC-6165-47FA-8757-D851393C1F71}" dt="2026-07-09T18:42:51.818" v="23" actId="1076"/>
          <ac:picMkLst>
            <pc:docMk/>
            <pc:sldMk cId="0" sldId="263"/>
            <ac:picMk id="23" creationId="{720767D3-80D4-74A3-FF2D-704E8DAC16D2}"/>
          </ac:picMkLst>
        </pc:picChg>
      </pc:sldChg>
      <pc:sldChg chg="addSp modSp mod">
        <pc:chgData name="kavinesh haribaskar" userId="96d0dae25c096074" providerId="LiveId" clId="{7165BEFC-6165-47FA-8757-D851393C1F71}" dt="2026-07-09T18:43:11.513" v="25" actId="1076"/>
        <pc:sldMkLst>
          <pc:docMk/>
          <pc:sldMk cId="0" sldId="264"/>
        </pc:sldMkLst>
        <pc:picChg chg="add mod">
          <ac:chgData name="kavinesh haribaskar" userId="96d0dae25c096074" providerId="LiveId" clId="{7165BEFC-6165-47FA-8757-D851393C1F71}" dt="2026-07-09T18:43:11.513" v="25" actId="1076"/>
          <ac:picMkLst>
            <pc:docMk/>
            <pc:sldMk cId="0" sldId="264"/>
            <ac:picMk id="28" creationId="{C146B37C-35F9-786D-8FFC-51B3D2823BF1}"/>
          </ac:picMkLst>
        </pc:picChg>
      </pc:sldChg>
      <pc:sldChg chg="addSp modSp mod">
        <pc:chgData name="kavinesh haribaskar" userId="96d0dae25c096074" providerId="LiveId" clId="{7165BEFC-6165-47FA-8757-D851393C1F71}" dt="2026-07-09T18:43:28.304" v="27" actId="1076"/>
        <pc:sldMkLst>
          <pc:docMk/>
          <pc:sldMk cId="0" sldId="265"/>
        </pc:sldMkLst>
        <pc:picChg chg="add mod">
          <ac:chgData name="kavinesh haribaskar" userId="96d0dae25c096074" providerId="LiveId" clId="{7165BEFC-6165-47FA-8757-D851393C1F71}" dt="2026-07-09T18:43:28.304" v="27" actId="1076"/>
          <ac:picMkLst>
            <pc:docMk/>
            <pc:sldMk cId="0" sldId="265"/>
            <ac:picMk id="25" creationId="{E368E213-0963-AF6C-4E0A-F1717AA0A91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88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jpe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ilto:kavineshharibaskar2005@gmail.com" TargetMode="External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3.png"/><Relationship Id="rId5" Type="http://schemas.openxmlformats.org/officeDocument/2006/relationships/image" Target="../media/image20.svg"/><Relationship Id="rId10" Type="http://schemas.openxmlformats.org/officeDocument/2006/relationships/hyperlink" Target="https://github.com/Kavinesh-06/mutual_fund_analytics.git" TargetMode="External"/><Relationship Id="rId4" Type="http://schemas.openxmlformats.org/officeDocument/2006/relationships/image" Target="../media/image19.svg"/><Relationship Id="rId9" Type="http://schemas.openxmlformats.org/officeDocument/2006/relationships/hyperlink" Target="http://www.linkedin.com/in/kavinesh-haribaskar-6616b525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60438"/>
            <a:ext cx="1759744" cy="215354"/>
          </a:xfrm>
          <a:prstGeom prst="roundRect">
            <a:avLst>
              <a:gd name="adj" fmla="val 4739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81174" y="1402928"/>
            <a:ext cx="20468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ANALYTICS CAPSTONE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3249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Mutual Fund Analytics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28808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 end-to-end platform for fund performance, risk analysis, and investor insights.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709788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6119" y="306548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Programme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42870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Bluestock Fintech Internship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06548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Present by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3428702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Kavinesh Haribaskar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BDE08A-3B5F-8511-352D-E3C8BE0B0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64" y="4819605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36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2920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comprehensive analytics platform built to transform raw mutual fund data into actionable investment intelligence.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15492"/>
            <a:ext cx="1931566" cy="1718742"/>
          </a:xfrm>
          <a:prstGeom prst="roundRect">
            <a:avLst>
              <a:gd name="adj" fmla="val 742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7877" y="2057251"/>
            <a:ext cx="16480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End-to-End Platform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585219"/>
            <a:ext cx="16480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full Mutual Fund Analytics pipeline from data ingestion to visualisation.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9443" y="1915492"/>
            <a:ext cx="1931640" cy="1718742"/>
          </a:xfrm>
          <a:prstGeom prst="roundRect">
            <a:avLst>
              <a:gd name="adj" fmla="val 742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11202" y="2057251"/>
            <a:ext cx="16481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10 Datasets Processed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11202" y="258521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Cleaned, validated, and modelled data across ten distinct mutual fund datasets.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2842" y="1915492"/>
            <a:ext cx="1931640" cy="1718742"/>
          </a:xfrm>
          <a:prstGeom prst="roundRect">
            <a:avLst>
              <a:gd name="adj" fmla="val 742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84601" y="2057251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Automated ETL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84601" y="2363763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a robust ETL pipeline feeding a structured SQLite database.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6241" y="1915492"/>
            <a:ext cx="1931640" cy="1718742"/>
          </a:xfrm>
          <a:prstGeom prst="roundRect">
            <a:avLst>
              <a:gd name="adj" fmla="val 742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0" y="2057251"/>
            <a:ext cx="16481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0" y="258521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a Power BI dashboard for advanced financial and investor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829124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6119" y="404306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Tech Stack: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Python · Pandas · NumPy · SQLite · Plotly · Power BI · Git &amp; GitHub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3BBCCC-20C5-69EC-4FAC-71734283C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764" y="4787206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 &amp; Objectives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11510"/>
            <a:ext cx="815176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Investors lack a centralised system to analyse mutual fund performance, risk, SIP trends, and investor behaviour. Existing data is fragmented across multiple sources and lacks actionable insights.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8384" y="1491630"/>
            <a:ext cx="3680296" cy="3230389"/>
          </a:xfrm>
          <a:prstGeom prst="roundRect">
            <a:avLst>
              <a:gd name="adj" fmla="val 5431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0200" y="1596256"/>
            <a:ext cx="343666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30200" y="1891233"/>
            <a:ext cx="343666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Fragmented data sources, inconsistent formats, and no unified view of fund performance or investor patterns make holistic analysis nearly impossible for retail and institutional investors alike.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02919" y="1596256"/>
            <a:ext cx="43497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02919" y="1904330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48572" y="1927138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81612" y="1946151"/>
            <a:ext cx="39710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ETL Pipeline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81612" y="2241128"/>
            <a:ext cx="397103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an automated extraction, transformation, and loading workflow.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02919" y="2631653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48572" y="2654461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612" y="2673474"/>
            <a:ext cx="39710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81612" y="2968451"/>
            <a:ext cx="397103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Clean, validate, and standardise all datasets for analysis.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02919" y="3358976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48572" y="3381784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81612" y="3400797"/>
            <a:ext cx="39710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&amp; Risk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81612" y="3695774"/>
            <a:ext cx="397103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Analyse fund returns and compute key risk metrics.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2919" y="4086299"/>
            <a:ext cx="274067" cy="274067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48572" y="4109107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81612" y="4128120"/>
            <a:ext cx="39710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Dashboard &amp; Insights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81612" y="4423097"/>
            <a:ext cx="397103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 an interactive Power BI dashboard with investment insights.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D8A99D-3662-76D9-E76D-068B8C6DD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682" y="4819605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Engineering &amp; ETL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six-stage pipeline transforming raw CSV files into a structured analytics-ready SQLite database.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07021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63212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SQLite DB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82512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02626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Cleaning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21926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Raw CSV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33056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pipeline ensures data integrity at every stage, from ingestion through to dashboard visualisation.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496119" y="4475634"/>
            <a:ext cx="8151763" cy="9525"/>
          </a:xfrm>
          <a:prstGeom prst="roundRect">
            <a:avLst>
              <a:gd name="adj" fmla="val 60000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96119" y="4556001"/>
            <a:ext cx="815176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Datasets Integrated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496119" y="4719861"/>
            <a:ext cx="2011338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486" y="480022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Fund Master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576486" y="4932164"/>
            <a:ext cx="18506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fund metadata and classification.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2542877" y="4719861"/>
            <a:ext cx="2011412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623245" y="480022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NAV History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623245" y="4932164"/>
            <a:ext cx="1850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Historical Net Asset Value records.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589711" y="4719861"/>
            <a:ext cx="2011338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670078" y="4800228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Scheme Performance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670078" y="4932164"/>
            <a:ext cx="18506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Returns across multiple time horizons.</a:t>
            </a:r>
            <a:endParaRPr lang="en-US" sz="550" dirty="0"/>
          </a:p>
        </p:txBody>
      </p:sp>
      <p:sp>
        <p:nvSpPr>
          <p:cNvPr id="21" name="Shape 18"/>
          <p:cNvSpPr/>
          <p:nvPr/>
        </p:nvSpPr>
        <p:spPr>
          <a:xfrm>
            <a:off x="6636469" y="4719861"/>
            <a:ext cx="2011412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716837" y="4800228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Investor Transactions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16837" y="4932164"/>
            <a:ext cx="1850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Buy, sell, and switch activity logs.</a:t>
            </a:r>
            <a:endParaRPr lang="en-US" sz="550" dirty="0"/>
          </a:p>
        </p:txBody>
      </p:sp>
      <p:sp>
        <p:nvSpPr>
          <p:cNvPr id="24" name="Shape 21"/>
          <p:cNvSpPr/>
          <p:nvPr/>
        </p:nvSpPr>
        <p:spPr>
          <a:xfrm>
            <a:off x="496119" y="5133008"/>
            <a:ext cx="2011338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76486" y="5213375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Portfolio Holdings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76486" y="5345311"/>
            <a:ext cx="18506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Asset allocation and sector exposure.</a:t>
            </a:r>
            <a:endParaRPr lang="en-US" sz="550" dirty="0"/>
          </a:p>
        </p:txBody>
      </p:sp>
      <p:sp>
        <p:nvSpPr>
          <p:cNvPr id="27" name="Shape 24"/>
          <p:cNvSpPr/>
          <p:nvPr/>
        </p:nvSpPr>
        <p:spPr>
          <a:xfrm>
            <a:off x="2542877" y="5133008"/>
            <a:ext cx="2011412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623245" y="5213375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Benchmark Indices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2623245" y="5345311"/>
            <a:ext cx="1850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Market benchmarks for comparison.</a:t>
            </a:r>
            <a:endParaRPr lang="en-US" sz="550" dirty="0"/>
          </a:p>
        </p:txBody>
      </p:sp>
      <p:sp>
        <p:nvSpPr>
          <p:cNvPr id="30" name="Shape 27"/>
          <p:cNvSpPr/>
          <p:nvPr/>
        </p:nvSpPr>
        <p:spPr>
          <a:xfrm>
            <a:off x="4589711" y="5133008"/>
            <a:ext cx="2011338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670078" y="5213375"/>
            <a:ext cx="18506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Monthly SIP Inflows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4670078" y="5345311"/>
            <a:ext cx="185060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Systematic investment plan trends.</a:t>
            </a:r>
            <a:endParaRPr lang="en-US" sz="550" dirty="0"/>
          </a:p>
        </p:txBody>
      </p:sp>
      <p:sp>
        <p:nvSpPr>
          <p:cNvPr id="33" name="Shape 30"/>
          <p:cNvSpPr/>
          <p:nvPr/>
        </p:nvSpPr>
        <p:spPr>
          <a:xfrm>
            <a:off x="6636469" y="5133008"/>
            <a:ext cx="2011412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716837" y="5213375"/>
            <a:ext cx="1850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Category Inflows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716837" y="5345311"/>
            <a:ext cx="185067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Fund category-level capital flows.</a:t>
            </a:r>
            <a:endParaRPr lang="en-US" sz="550" dirty="0"/>
          </a:p>
        </p:txBody>
      </p:sp>
      <p:sp>
        <p:nvSpPr>
          <p:cNvPr id="36" name="Shape 33"/>
          <p:cNvSpPr/>
          <p:nvPr/>
        </p:nvSpPr>
        <p:spPr>
          <a:xfrm>
            <a:off x="496119" y="5546154"/>
            <a:ext cx="4058171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76486" y="562652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Industry Folio Count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576486" y="5758458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Investor participation metrics.</a:t>
            </a:r>
            <a:endParaRPr lang="en-US" sz="550" dirty="0"/>
          </a:p>
        </p:txBody>
      </p:sp>
      <p:sp>
        <p:nvSpPr>
          <p:cNvPr id="39" name="Shape 36"/>
          <p:cNvSpPr/>
          <p:nvPr/>
        </p:nvSpPr>
        <p:spPr>
          <a:xfrm>
            <a:off x="4589711" y="5546154"/>
            <a:ext cx="4058171" cy="377726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9525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4670078" y="5626522"/>
            <a:ext cx="389743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AUM by Fund House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4670078" y="5758458"/>
            <a:ext cx="389743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Assets under management distribution.</a:t>
            </a:r>
            <a:endParaRPr lang="en-US" sz="5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F113A28-C6C7-B934-0A93-F01C90D3D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175" y="4798509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124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Exploratory Data Analysis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19547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core analytical lenses applied to uncover patterns in fund performance, investor behaviour, and market trends.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36997"/>
            <a:ext cx="315590" cy="315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793081"/>
            <a:ext cx="262354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NAV Trend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057772"/>
            <a:ext cx="262354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Tracked Net Asset Value trajectories across fund categories to identify growth patterns and volatility clusters.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154" y="1336997"/>
            <a:ext cx="315590" cy="315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0154" y="1793081"/>
            <a:ext cx="262361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AUM by Fund House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0154" y="2057772"/>
            <a:ext cx="262361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Compared assets under management across major fund houses to map market share and dominance.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4265" y="1336997"/>
            <a:ext cx="315590" cy="3155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4265" y="1793081"/>
            <a:ext cx="262361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SIP Trend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24265" y="2057772"/>
            <a:ext cx="2623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Analysed systematic investment plan inflows over time to gauge retail investor sentiment.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55491"/>
            <a:ext cx="315590" cy="3155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311575"/>
            <a:ext cx="262354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Correlation Matrix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3576265"/>
            <a:ext cx="262354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Examined relationships between fund returns, risk metrics, and market variables.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0154" y="2855491"/>
            <a:ext cx="315590" cy="31559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0154" y="3311575"/>
            <a:ext cx="262361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Investor Demographics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60154" y="3576265"/>
            <a:ext cx="2623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Profiled investor segments by age, geography, and investment behaviour.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96119" y="4084662"/>
            <a:ext cx="8151763" cy="658639"/>
          </a:xfrm>
          <a:prstGeom prst="roundRect">
            <a:avLst>
              <a:gd name="adj" fmla="val 1725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25" y="4260577"/>
            <a:ext cx="157758" cy="12620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06289" y="4228654"/>
            <a:ext cx="761538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Key Insights:</a:t>
            </a:r>
            <a:r>
              <a:rPr lang="en-US" sz="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SBI Mutual Fund held the highest AUM · SIP inflows grew steadily from 2022 to 2025 · Large-cap funds demonstrated relatively stable NAV growth.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44D75D-2B1F-FA1B-A5C5-E4EB991101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0841" y="2409802"/>
            <a:ext cx="1562318" cy="3238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9B89F9-4B91-0809-83CA-47C50737C7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1682" y="4835218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17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Performance &amp; Risk Analytics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46349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comprehensive suite of financial metrics computed to evaluate returns, risk-adjusted performance, and benchmark alignment.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645295"/>
            <a:ext cx="433268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Metrics Computed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09477"/>
            <a:ext cx="2099816" cy="13073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8663" y="2165821"/>
            <a:ext cx="171092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Return Metrics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28663" y="2513335"/>
            <a:ext cx="171092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Daily Returns · CAGR (1Y, 3Y, 5Y)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8913" y="2009477"/>
            <a:ext cx="2099890" cy="13073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61456" y="2165821"/>
            <a:ext cx="1711003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Risk-Adjusted Returns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961456" y="2727871"/>
            <a:ext cx="171100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Sharpe Ratio · Sortino Ratio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449836"/>
            <a:ext cx="2099816" cy="10928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8663" y="3606180"/>
            <a:ext cx="171092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Market Risk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28663" y="3953694"/>
            <a:ext cx="171092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Alpha &amp; Beta · Tracking Error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8913" y="3449836"/>
            <a:ext cx="2099890" cy="109284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61456" y="3606180"/>
            <a:ext cx="171100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Downside Risk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2961456" y="3953694"/>
            <a:ext cx="171100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Maximum Drawdown · VaR &amp; CVaR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578" y="2047354"/>
            <a:ext cx="3483992" cy="21098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E30CBA-44FB-0300-D9C5-ED6D8DBFC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967" y="4819605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719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Power BI Dashboard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908447"/>
            <a:ext cx="86089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Four interactive pages delivering a 360° view of the mutual fund landscape.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1" y="1216596"/>
            <a:ext cx="1971749" cy="197174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686" y="1216596"/>
            <a:ext cx="1971749" cy="197174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490" y="1216596"/>
            <a:ext cx="1971749" cy="197174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295" y="1216596"/>
            <a:ext cx="1971824" cy="197182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496119" y="3347740"/>
            <a:ext cx="1978149" cy="724049"/>
          </a:xfrm>
          <a:prstGeom prst="roundRect">
            <a:avLst>
              <a:gd name="adj" fmla="val 132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/>
          <p:cNvSpPr/>
          <p:nvPr/>
        </p:nvSpPr>
        <p:spPr>
          <a:xfrm>
            <a:off x="602382" y="3454003"/>
            <a:ext cx="176562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602382" y="3667869"/>
            <a:ext cx="176562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At-a-glance summary metrics for key indicators.</a:t>
            </a:r>
            <a:endParaRPr lang="en-US" sz="800" dirty="0"/>
          </a:p>
        </p:txBody>
      </p:sp>
      <p:sp>
        <p:nvSpPr>
          <p:cNvPr id="11" name="Shape 5"/>
          <p:cNvSpPr/>
          <p:nvPr/>
        </p:nvSpPr>
        <p:spPr>
          <a:xfrm>
            <a:off x="2553965" y="3347740"/>
            <a:ext cx="1978149" cy="724049"/>
          </a:xfrm>
          <a:prstGeom prst="roundRect">
            <a:avLst>
              <a:gd name="adj" fmla="val 132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6"/>
          <p:cNvSpPr/>
          <p:nvPr/>
        </p:nvSpPr>
        <p:spPr>
          <a:xfrm>
            <a:off x="2660228" y="3454003"/>
            <a:ext cx="176562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Slicers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2660228" y="3667869"/>
            <a:ext cx="176562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filtering by fund, category, and period.</a:t>
            </a:r>
            <a:endParaRPr lang="en-US" sz="800" dirty="0"/>
          </a:p>
        </p:txBody>
      </p:sp>
      <p:sp>
        <p:nvSpPr>
          <p:cNvPr id="14" name="Shape 8"/>
          <p:cNvSpPr/>
          <p:nvPr/>
        </p:nvSpPr>
        <p:spPr>
          <a:xfrm>
            <a:off x="4611812" y="3347740"/>
            <a:ext cx="1978149" cy="724049"/>
          </a:xfrm>
          <a:prstGeom prst="roundRect">
            <a:avLst>
              <a:gd name="adj" fmla="val 132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9"/>
          <p:cNvSpPr/>
          <p:nvPr/>
        </p:nvSpPr>
        <p:spPr>
          <a:xfrm>
            <a:off x="4718075" y="3454003"/>
            <a:ext cx="176562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Drill-Through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718075" y="3667869"/>
            <a:ext cx="1765622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Navigate from summary to detailed fund-level views.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669658" y="3347740"/>
            <a:ext cx="1978223" cy="724049"/>
          </a:xfrm>
          <a:prstGeom prst="roundRect">
            <a:avLst>
              <a:gd name="adj" fmla="val 132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6775921" y="3454003"/>
            <a:ext cx="176569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Tooltips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775921" y="3667869"/>
            <a:ext cx="1765697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Contextual insights on hover for deeper analysis.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496119" y="4151486"/>
            <a:ext cx="8151763" cy="575221"/>
          </a:xfrm>
          <a:prstGeom prst="roundRect">
            <a:avLst>
              <a:gd name="adj" fmla="val 1663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602382" y="4257749"/>
            <a:ext cx="7939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Investor Analytics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02382" y="4471615"/>
            <a:ext cx="793923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Delving into investor behaviour to understand preferences, trends, and engagement across various mutual fund schemes.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B2F9988-34C3-D5ED-61DD-48094FA637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764" y="4806404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80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Advanced Analytics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365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Six specialised analyses providing deeper insight into risk, investor behaviour, and fund concentration.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3980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Historical VaR &amp; CVaR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046312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Quantified downside risk using historical simulation to estimate potential portfolio losses at confidence intervals.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7069" y="1559942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72433" y="173980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Rolling 90-Day Sharpe Ratio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046312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Tracked risk-adjusted performance over time to identify consistently performing funds beyond point-in-time snapshots.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53383" y="1559942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48747" y="173980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Investor Cohort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04631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Segmented investors by entry period to study retention and behaviour patterns across market cycles.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9697" y="1559942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6119" y="341694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SIP Continuity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372345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Measured systematic investment plan persistence and dropout rates to gauge investor discipline.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7069" y="3237086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72433" y="341694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Sector HHI Concentration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72433" y="372345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Computed Herfindahl-Hirschman Index to assess portfolio diversification and sector concentration risk.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53383" y="3237086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48747" y="3416945"/>
            <a:ext cx="2599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Risk-Based Fund Recommender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48747" y="394491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model matching funds to investor risk profiles using quantitative scoring.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29697" y="3237086"/>
            <a:ext cx="2637234" cy="3810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20767D3-80D4-74A3-FF2D-704E8DAC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682" y="4752282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304"/>
            <a:ext cx="8151763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Findings &amp; Conclusion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947738"/>
            <a:ext cx="478943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196355"/>
            <a:ext cx="234181" cy="234181"/>
          </a:xfrm>
          <a:prstGeom prst="roundRect">
            <a:avLst>
              <a:gd name="adj" fmla="val 4001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35112" y="1215814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6723" y="1232074"/>
            <a:ext cx="447883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Consistent Risk-Adjusted Returns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6723" y="1471166"/>
            <a:ext cx="447883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Large-cap funds delivered the most consistent risk-adjusted returns across all categories analysed.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6119" y="1912888"/>
            <a:ext cx="234181" cy="234181"/>
          </a:xfrm>
          <a:prstGeom prst="roundRect">
            <a:avLst>
              <a:gd name="adj" fmla="val 4001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5112" y="1932347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6723" y="1948607"/>
            <a:ext cx="447883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Record SIP Inflows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723" y="2187699"/>
            <a:ext cx="447883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SIP inflows reached all-time highs in December 2025, signalling strong retail investor confidence.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96119" y="2629421"/>
            <a:ext cx="234181" cy="234181"/>
          </a:xfrm>
          <a:prstGeom prst="roundRect">
            <a:avLst>
              <a:gd name="adj" fmla="val 4001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5112" y="2648880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6723" y="2665140"/>
            <a:ext cx="447883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Lower Concentration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6723" y="2904232"/>
            <a:ext cx="447883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Diversified funds exhibited significantly lower concentration risk compared to sector-specific funds.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6119" y="3345954"/>
            <a:ext cx="234181" cy="234181"/>
          </a:xfrm>
          <a:prstGeom prst="roundRect">
            <a:avLst>
              <a:gd name="adj" fmla="val 4001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5112" y="3365413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6723" y="3381673"/>
            <a:ext cx="447883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Rolling Sharpe Insights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6723" y="3620765"/>
            <a:ext cx="447883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Rolling Sharpe analysis identified funds with sustained performance, not just short-term winners.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6119" y="4062487"/>
            <a:ext cx="234181" cy="234181"/>
          </a:xfrm>
          <a:prstGeom prst="roundRect">
            <a:avLst>
              <a:gd name="adj" fmla="val 4001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35112" y="4081946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723" y="4098206"/>
            <a:ext cx="447883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Recommender 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6723" y="4337298"/>
            <a:ext cx="4478834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risk-based recommender successfully matched funds to investor profiles with high accuracy.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69285" y="871314"/>
            <a:ext cx="3258220" cy="3840807"/>
          </a:xfrm>
          <a:prstGeom prst="roundRect">
            <a:avLst>
              <a:gd name="adj" fmla="val 4601"/>
            </a:avLst>
          </a:prstGeom>
          <a:solidFill>
            <a:srgbClr val="AFCB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573390" y="947738"/>
            <a:ext cx="3050009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3390" y="1186830"/>
            <a:ext cx="305000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Successfully delivered an end-to-end ETL pipeline, advanced analytics, and an interactive Power BI dashboard — providing actionable insights into mutual fund performance and investor behaviour.</a:t>
            </a: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146B37C-35F9-786D-8FFC-51B3D2823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682" y="4788544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622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Scope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93651"/>
            <a:ext cx="304577" cy="3045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1515" y="993651"/>
            <a:ext cx="219462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Live NAV Updates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931515" y="1246808"/>
            <a:ext cx="219462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Scheduled ETL jobs for real-time Net Asset Value tracking and automated data refresh.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6955" y="993651"/>
            <a:ext cx="304577" cy="3045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92351" y="993651"/>
            <a:ext cx="219462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Streamlit Web App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692351" y="1246808"/>
            <a:ext cx="2194620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 analytics as an interactive web application for broader accessibility.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7791" y="993651"/>
            <a:ext cx="304577" cy="3045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53188" y="993651"/>
            <a:ext cx="219469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Monte Carlo Simulations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453188" y="1246808"/>
            <a:ext cx="2194694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Probabilistic modelling of portfolio returns under thousands of market scenarios.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999729"/>
            <a:ext cx="304577" cy="3045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1515" y="1999729"/>
            <a:ext cx="219462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Portfolio Optimisation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931515" y="2252886"/>
            <a:ext cx="219462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Apply Markowitz mean-variance optimisation for efficient frontier construction.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56955" y="1999729"/>
            <a:ext cx="304577" cy="30457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692351" y="1999729"/>
            <a:ext cx="219462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Automated Reports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3692351" y="2252886"/>
            <a:ext cx="219462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Scheduled email delivery of personalised fund performance and risk summaries.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496119" y="2944639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1E3063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/>
          <p:nvPr/>
        </p:nvSpPr>
        <p:spPr>
          <a:xfrm>
            <a:off x="496119" y="3146375"/>
            <a:ext cx="8151763" cy="76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4750" dirty="0"/>
          </a:p>
        </p:txBody>
      </p:sp>
      <p:sp>
        <p:nvSpPr>
          <p:cNvPr id="20" name="Text 13"/>
          <p:cNvSpPr/>
          <p:nvPr/>
        </p:nvSpPr>
        <p:spPr>
          <a:xfrm>
            <a:off x="496119" y="4169420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Email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96119" y="4464397"/>
            <a:ext cx="43844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u="sng" dirty="0">
                <a:solidFill>
                  <a:srgbClr val="0540AD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kavineshharibaskar2005@gmail.com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725367" y="4169420"/>
            <a:ext cx="392727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Connect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725367" y="4464397"/>
            <a:ext cx="438447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u="sng" dirty="0">
                <a:solidFill>
                  <a:srgbClr val="0540AD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· </a:t>
            </a:r>
            <a:r>
              <a:rPr lang="en-US" sz="950" b="1" u="sng" dirty="0">
                <a:solidFill>
                  <a:srgbClr val="0540AD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68E213-0963-AF6C-4E0A-F1717AA0A9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1682" y="4795495"/>
            <a:ext cx="1562318" cy="323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40A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972</Words>
  <Application>Microsoft Office PowerPoint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Bold</vt:lpstr>
      <vt:lpstr>Instrument Sans Medium</vt:lpstr>
      <vt:lpstr>Arial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kavinesh haribaskar</cp:lastModifiedBy>
  <cp:revision>1</cp:revision>
  <dcterms:created xsi:type="dcterms:W3CDTF">2026-07-09T18:16:15Z</dcterms:created>
  <dcterms:modified xsi:type="dcterms:W3CDTF">2026-07-09T18:43:35Z</dcterms:modified>
</cp:coreProperties>
</file>